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Montserrat" panose="000005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704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47" y="2981206"/>
            <a:ext cx="5007586" cy="1761310"/>
          </a:xfrm>
          <a:prstGeom prst="rect">
            <a:avLst/>
          </a:prstGeom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4" name="Text 0"/>
          <p:cNvSpPr/>
          <p:nvPr/>
        </p:nvSpPr>
        <p:spPr>
          <a:xfrm>
            <a:off x="6244709" y="194357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Jain AI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44709" y="2981206"/>
            <a:ext cx="7627382" cy="1967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that actually knows.</a:t>
            </a:r>
            <a:endParaRPr lang="en-US" sz="6150" dirty="0"/>
          </a:p>
        </p:txBody>
      </p:sp>
      <p:sp>
        <p:nvSpPr>
          <p:cNvPr id="6" name="Text 2"/>
          <p:cNvSpPr/>
          <p:nvPr/>
        </p:nvSpPr>
        <p:spPr>
          <a:xfrm>
            <a:off x="6244709" y="527327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Document-Grounded Academic Assistant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6244709" y="5863709"/>
            <a:ext cx="2238732" cy="422315"/>
          </a:xfrm>
          <a:prstGeom prst="roundRect">
            <a:avLst>
              <a:gd name="adj" fmla="val 61564"/>
            </a:avLst>
          </a:prstGeom>
          <a:noFill/>
          <a:ln w="762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382226" y="5936218"/>
            <a:ext cx="1963698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ACADEMIC ASSISTANT</a:t>
            </a:r>
            <a:endParaRPr lang="en-US" sz="135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963335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Problem: Information Overload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713673"/>
            <a:ext cx="3705344" cy="2692837"/>
          </a:xfrm>
          <a:prstGeom prst="roundRect">
            <a:avLst>
              <a:gd name="adj" fmla="val 1206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82504" y="2937867"/>
            <a:ext cx="317515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📄</a:t>
            </a: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Scattered Documents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2504" y="3439239"/>
            <a:ext cx="325695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University information is buried across dozens of PDFs, making it nearly impossible to find what you need quickly.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0228" y="2713673"/>
            <a:ext cx="3705463" cy="2692837"/>
          </a:xfrm>
          <a:prstGeom prst="roundRect">
            <a:avLst>
              <a:gd name="adj" fmla="val 1206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04423" y="2937867"/>
            <a:ext cx="3257074" cy="72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⏳</a:t>
            </a: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Time-Consuming Searches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04423" y="3795474"/>
            <a:ext cx="325707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searching through unstructured documents wastes valuable student and staff time every day.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5623084"/>
            <a:ext cx="7627382" cy="1643182"/>
          </a:xfrm>
          <a:prstGeom prst="roundRect">
            <a:avLst>
              <a:gd name="adj" fmla="val 1977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82504" y="5847278"/>
            <a:ext cx="2896076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🤖</a:t>
            </a: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Unreliable Chatbots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2504" y="6348651"/>
            <a:ext cx="717899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Generic AI assistants hallucinate and provide inaccurate answers that cannot be trusted for academic decisions.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0922" y="610553"/>
            <a:ext cx="5345192" cy="668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Our Solution: JainAI 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10922" y="1564243"/>
            <a:ext cx="7722156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Jain AI reads your institution’s documents first, then delivers precise, trustworthy answers to student questions.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10922" y="2598420"/>
            <a:ext cx="267259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Solution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10922" y="3122890"/>
            <a:ext cx="3613309" cy="188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Jain AI is an intelligent academic assistant that helps students and staff find accurate information quickly by grounding every response in official institutional documents.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827389" y="2598420"/>
            <a:ext cx="267259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Objective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827389" y="3122890"/>
            <a:ext cx="3613309" cy="1259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 faster access to reliable answers, reduce manual searching, and improve confidence in academic decisions.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003" y="5403413"/>
            <a:ext cx="304681" cy="3046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005" y="5397222"/>
            <a:ext cx="267259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Ask in plain language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371005" y="5845493"/>
            <a:ext cx="3081933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 language queries, no technical skills needed.</a:t>
            </a:r>
            <a:endParaRPr lang="en-US" sz="1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7024" y="5403413"/>
            <a:ext cx="304681" cy="3046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51026" y="5397222"/>
            <a:ext cx="267259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Get grounded answers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5351026" y="5845493"/>
            <a:ext cx="3082052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response is backed by real institutional documents.</a:t>
            </a:r>
            <a:endParaRPr lang="en-US" sz="15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003" y="6862048"/>
            <a:ext cx="304681" cy="30468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005" y="6855857"/>
            <a:ext cx="2893814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Save time, reduce errors</a:t>
            </a:r>
            <a:endParaRPr lang="en-US" sz="2100" dirty="0"/>
          </a:p>
        </p:txBody>
      </p:sp>
      <p:sp>
        <p:nvSpPr>
          <p:cNvPr id="17" name="Text 11"/>
          <p:cNvSpPr/>
          <p:nvPr/>
        </p:nvSpPr>
        <p:spPr>
          <a:xfrm>
            <a:off x="1371005" y="7304127"/>
            <a:ext cx="7062073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accurate information in seconds, not minutes.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18905"/>
            <a:ext cx="638829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Features at a Glance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864882"/>
            <a:ext cx="2430542" cy="15020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463772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RAG + LLM Chatbot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5123855"/>
            <a:ext cx="419076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Retrieves relevant document passages and generates accurate, context-aware responses using large language models.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19" y="2864882"/>
            <a:ext cx="2430542" cy="15020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463772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OCR Capability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19819" y="5123855"/>
            <a:ext cx="419076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Extracts text from scanned PDFs and image-based documents, enabling real-world document handling at scale.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329" y="2864882"/>
            <a:ext cx="2430542" cy="15020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463772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Zero Hallucination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81329" y="5123855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answer is grounded in verified source documents — no guessing, no fabrication, fully traceable.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1468636"/>
            <a:ext cx="6019681" cy="335970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1468636"/>
            <a:ext cx="6019681" cy="335970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314248" y="1714024"/>
            <a:ext cx="1186815" cy="407075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7444145" y="1778913"/>
            <a:ext cx="9270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1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314248" y="220765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RAG + LLM Chatbot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7314248" y="3136940"/>
            <a:ext cx="6565344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pulls useful information from documents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LLMs turn that context into clear answers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Improves accuracy with grounded sources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Reduces hallucinations and guesswork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58309" y="5315783"/>
            <a:ext cx="4226838" cy="1688902"/>
          </a:xfrm>
          <a:prstGeom prst="roundRect">
            <a:avLst>
              <a:gd name="adj" fmla="val 8663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29" y="5315783"/>
            <a:ext cx="121920" cy="16889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6804" y="5562838"/>
            <a:ext cx="285071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🔍</a:t>
            </a: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Retrieval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96804" y="6064210"/>
            <a:ext cx="364128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Finds relevant information from documents.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201722" y="5315783"/>
            <a:ext cx="4226838" cy="1688902"/>
          </a:xfrm>
          <a:prstGeom prst="roundRect">
            <a:avLst>
              <a:gd name="adj" fmla="val 8663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1242" y="5315783"/>
            <a:ext cx="121920" cy="16889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40216" y="5562838"/>
            <a:ext cx="285071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🧠</a:t>
            </a: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Augmented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5540216" y="6064210"/>
            <a:ext cx="364128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Adds retrieved data as context.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9645134" y="5315783"/>
            <a:ext cx="4226957" cy="1688902"/>
          </a:xfrm>
          <a:prstGeom prst="roundRect">
            <a:avLst>
              <a:gd name="adj" fmla="val 8663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4654" y="5315783"/>
            <a:ext cx="121920" cy="168890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983629" y="5562838"/>
            <a:ext cx="285071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💬</a:t>
            </a: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Generation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9983629" y="6064210"/>
            <a:ext cx="364140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generates the final answer.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1451729"/>
            <a:ext cx="1222653" cy="407075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88206" y="1516618"/>
            <a:ext cx="962858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309" y="1945362"/>
            <a:ext cx="424612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OCR Capability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58309" y="2874645"/>
            <a:ext cx="4246126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all university documents are machine-readable. Jain AI's OCR engine extracts text from scanned PDFs, handwritten forms, and image-based documents — making every file searchable and queryable.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40693" y="1183243"/>
            <a:ext cx="833889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693" y="1773674"/>
            <a:ext cx="8338899" cy="33522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309" y="5613321"/>
            <a:ext cx="4226838" cy="1627942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82504" y="583751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Scanned PDFs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82504" y="6323648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text extraction from image-based PDFs.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201722" y="5613321"/>
            <a:ext cx="4226838" cy="1627942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25916" y="583751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Image Documents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425916" y="6323648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PNG, JPG, and other image formats.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645134" y="5613321"/>
            <a:ext cx="4226957" cy="1627942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869329" y="583751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Real-World Ready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869329" y="6323648"/>
            <a:ext cx="377856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Handles messy, real institutional document formats.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44709" y="1214199"/>
            <a:ext cx="1222058" cy="407075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374606" y="1279088"/>
            <a:ext cx="962263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244709" y="170783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Accurate, Verifiable Responses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244709" y="3458170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Jain AI eliminates the biggest risk of generative AI: hallucination. Every answer is tied directly to source documents, giving students and staff confidence in the information they receive.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44709" y="4850249"/>
            <a:ext cx="367831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6658451" y="58358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Hallucinations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44709" y="6321981"/>
            <a:ext cx="36783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Document-grounded retrieval eliminates fabricated answers.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193774" y="4850249"/>
            <a:ext cx="367831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100%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10607516" y="58358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Source-Backed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193774" y="6321981"/>
            <a:ext cx="36783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response is traceable to an original document.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76325"/>
            <a:ext cx="588097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     JainAi  Architecture 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357676"/>
            <a:ext cx="7520345" cy="45371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14911" y="2308860"/>
            <a:ext cx="5064681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routes queries, retrieves relevant data, and generates accurate responses.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814911" y="3058358"/>
            <a:ext cx="506468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Routing Layer: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Processes and classifies user queries using Flask backend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814911" y="3946684"/>
            <a:ext cx="506468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Pipeline: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Retrieves relevant information from the vector database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814911" y="4835009"/>
            <a:ext cx="506468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OCR Module: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Extracts text from uploaded PDFs and images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814911" y="5723334"/>
            <a:ext cx="506468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(Groq API):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Generates accurate, context-based responses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814911" y="6611660"/>
            <a:ext cx="506468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Routing → Retrieval → Generation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267" y="498277"/>
            <a:ext cx="4721662" cy="590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Technical Stack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9267" y="1385530"/>
            <a:ext cx="13031748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Jain AI is built on a modern, open-source stack designed for speed, scalability, and accuracy.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267" y="1814870"/>
            <a:ext cx="358735" cy="3587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9267" y="2359223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Python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99267" y="2743319"/>
            <a:ext cx="6423065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backend language for all AI and data processing logic.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7950" y="1814870"/>
            <a:ext cx="358735" cy="3587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07950" y="2359223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Flask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407950" y="2743319"/>
            <a:ext cx="6423065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Lightweight web framework powering the REST API layer.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267" y="3302675"/>
            <a:ext cx="358735" cy="3587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9267" y="3847028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Groq API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99267" y="4231124"/>
            <a:ext cx="6423065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Ultra-fast LLM inference for real-time response generation.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7950" y="3302675"/>
            <a:ext cx="358735" cy="3587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07950" y="3847028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Chroma DB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7407950" y="4231124"/>
            <a:ext cx="6423065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Lightweight vector database for semantic document retrieval.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267" y="4790480"/>
            <a:ext cx="358735" cy="35873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9267" y="5334833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Hugging Face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799267" y="5718929"/>
            <a:ext cx="6423065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Pre-trained embedding models for semantic text representation.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7950" y="4790480"/>
            <a:ext cx="358735" cy="35873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07950" y="5334833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HTML / CSS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7407950" y="5718929"/>
            <a:ext cx="6423065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Clean, responsive frontend for the chat interface.</a:t>
            </a:r>
            <a:endParaRPr lang="en-US" sz="14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9267" y="6278285"/>
            <a:ext cx="358735" cy="35873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9267" y="6822638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rag</a:t>
            </a:r>
            <a:endParaRPr lang="en-US" sz="1850" dirty="0"/>
          </a:p>
        </p:txBody>
      </p:sp>
      <p:sp>
        <p:nvSpPr>
          <p:cNvPr id="24" name="Text 15"/>
          <p:cNvSpPr/>
          <p:nvPr/>
        </p:nvSpPr>
        <p:spPr>
          <a:xfrm>
            <a:off x="799267" y="7206734"/>
            <a:ext cx="6423065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Retrieves relevant document context to generate accurate, data-driven responses.</a:t>
            </a:r>
            <a:endParaRPr lang="en-US" sz="14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7950" y="6278285"/>
            <a:ext cx="358735" cy="35873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407950" y="6822638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ocr</a:t>
            </a:r>
            <a:endParaRPr lang="en-US" sz="1850" dirty="0"/>
          </a:p>
        </p:txBody>
      </p:sp>
      <p:sp>
        <p:nvSpPr>
          <p:cNvPr id="27" name="Text 17"/>
          <p:cNvSpPr/>
          <p:nvPr/>
        </p:nvSpPr>
        <p:spPr>
          <a:xfrm>
            <a:off x="7407950" y="7206734"/>
            <a:ext cx="6423065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Extracts readable text from scanned PDFs and images for processing.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5043" y="471011"/>
            <a:ext cx="4276130" cy="534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Conclusion:  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055043" y="1188363"/>
            <a:ext cx="8006715" cy="455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Jain AI helps students get accurate answers faster, save time on research, and avoid the risks of hallucinations.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055043" y="2024182"/>
            <a:ext cx="8006715" cy="1159431"/>
          </a:xfrm>
          <a:prstGeom prst="roundRect">
            <a:avLst>
              <a:gd name="adj" fmla="val 94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5043" y="2001322"/>
            <a:ext cx="8006715" cy="914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4679" y="1780461"/>
            <a:ext cx="487442" cy="4874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960888" y="1902262"/>
            <a:ext cx="194905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240304" y="2430423"/>
            <a:ext cx="213800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Accurate Answers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240304" y="2770823"/>
            <a:ext cx="7636193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Grounded in trusted documents so students can rely on every response.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6055043" y="3549134"/>
            <a:ext cx="8006715" cy="1159431"/>
          </a:xfrm>
          <a:prstGeom prst="roundRect">
            <a:avLst>
              <a:gd name="adj" fmla="val 94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5043" y="3526274"/>
            <a:ext cx="8006715" cy="9144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4679" y="3305413"/>
            <a:ext cx="487442" cy="4874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960888" y="3427214"/>
            <a:ext cx="194905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6240304" y="3955375"/>
            <a:ext cx="213800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Saves Time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6240304" y="4295775"/>
            <a:ext cx="7636193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the right information quickly and spend more time learning.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055043" y="5074087"/>
            <a:ext cx="8006715" cy="1159431"/>
          </a:xfrm>
          <a:prstGeom prst="roundRect">
            <a:avLst>
              <a:gd name="adj" fmla="val 94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5043" y="5051227"/>
            <a:ext cx="8006715" cy="91440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4679" y="4830366"/>
            <a:ext cx="487442" cy="48744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960888" y="4952167"/>
            <a:ext cx="194905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6240304" y="5480328"/>
            <a:ext cx="213800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 Hallucinations</a:t>
            </a:r>
            <a:endParaRPr lang="en-US" sz="1650" dirty="0"/>
          </a:p>
        </p:txBody>
      </p:sp>
      <p:sp>
        <p:nvSpPr>
          <p:cNvPr id="22" name="Text 13"/>
          <p:cNvSpPr/>
          <p:nvPr/>
        </p:nvSpPr>
        <p:spPr>
          <a:xfrm>
            <a:off x="6240304" y="5820728"/>
            <a:ext cx="7636193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Responses stay focused, clear, and aligned with the source material.</a:t>
            </a:r>
            <a:endParaRPr lang="en-US" sz="1250" dirty="0"/>
          </a:p>
        </p:txBody>
      </p:sp>
      <p:sp>
        <p:nvSpPr>
          <p:cNvPr id="23" name="Shape 14"/>
          <p:cNvSpPr/>
          <p:nvPr/>
        </p:nvSpPr>
        <p:spPr>
          <a:xfrm>
            <a:off x="6055043" y="6599039"/>
            <a:ext cx="8006715" cy="1159431"/>
          </a:xfrm>
          <a:prstGeom prst="roundRect">
            <a:avLst>
              <a:gd name="adj" fmla="val 94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5043" y="6576179"/>
            <a:ext cx="8006715" cy="91440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4679" y="6355318"/>
            <a:ext cx="487442" cy="48744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960888" y="6477119"/>
            <a:ext cx="194905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16"/>
          <p:cNvSpPr/>
          <p:nvPr/>
        </p:nvSpPr>
        <p:spPr>
          <a:xfrm>
            <a:off x="6240304" y="7005280"/>
            <a:ext cx="213800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It Matters</a:t>
            </a:r>
            <a:endParaRPr lang="en-US" sz="1650" dirty="0"/>
          </a:p>
        </p:txBody>
      </p:sp>
      <p:sp>
        <p:nvSpPr>
          <p:cNvPr id="28" name="Text 17"/>
          <p:cNvSpPr/>
          <p:nvPr/>
        </p:nvSpPr>
        <p:spPr>
          <a:xfrm>
            <a:off x="6240304" y="7345680"/>
            <a:ext cx="7636193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Give every student a smarter, more confident way to learn and succeed.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474" y="1778679"/>
            <a:ext cx="5197579" cy="39298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309" y="2788444"/>
            <a:ext cx="7627382" cy="983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Thank You</a:t>
            </a:r>
            <a:endParaRPr lang="en-US" sz="6150" dirty="0"/>
          </a:p>
        </p:txBody>
      </p:sp>
      <p:sp>
        <p:nvSpPr>
          <p:cNvPr id="5" name="Text 1"/>
          <p:cNvSpPr/>
          <p:nvPr/>
        </p:nvSpPr>
        <p:spPr>
          <a:xfrm>
            <a:off x="758309" y="4096941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your time and attention. We look forward to transforming academic information access with Jain AI.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758309" y="5034082"/>
            <a:ext cx="883325" cy="407075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88206" y="5098971"/>
            <a:ext cx="883324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JAIN AI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711</Words>
  <Application>Microsoft Office PowerPoint</Application>
  <PresentationFormat>Custom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Barlow Bold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Kalyana Srinivas Bonagiri</cp:lastModifiedBy>
  <cp:revision>2</cp:revision>
  <dcterms:created xsi:type="dcterms:W3CDTF">2026-04-12T09:49:04Z</dcterms:created>
  <dcterms:modified xsi:type="dcterms:W3CDTF">2026-04-12T09:59:00Z</dcterms:modified>
</cp:coreProperties>
</file>